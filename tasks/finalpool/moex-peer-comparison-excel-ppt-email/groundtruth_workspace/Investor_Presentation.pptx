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Сравнение эмитентов MOEX: инвестиционная презентация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Peer Comparison — аналитическое покрытие акций Московской биржи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Обзор рынка и эмитенты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GAZP.ME — Газпром (Energy)</a:t>
            </a:r>
          </a:p>
          <a:p>
            <a:pPr>
              <a:defRPr sz="1400"/>
            </a:pPr>
            <a:r>
              <a:t>LKOH.ME — ЛУКОЙЛ (Energy)</a:t>
            </a:r>
          </a:p>
          <a:p>
            <a:pPr>
              <a:defRPr sz="1400"/>
            </a:pPr>
            <a:r>
              <a:t>MGNT.ME — Магнит (Consumer Defensive)</a:t>
            </a:r>
          </a:p>
          <a:p>
            <a:pPr>
              <a:defRPr sz="1400"/>
            </a:pPr>
            <a:r>
              <a:t>MTSS.ME — МТС (Communication Services)</a:t>
            </a:r>
          </a:p>
          <a:p>
            <a:pPr>
              <a:defRPr sz="1400"/>
            </a:pPr>
            <a:r>
              <a:t>SBER.ME — Сбербанк (Financial Services)</a:t>
            </a:r>
          </a:p>
          <a:p>
            <a:pPr>
              <a:defRPr sz="1400"/>
            </a:pPr>
            <a:r>
              <a:t>TCSG.ME — МКТ-Технологии (Financial Services)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Профили компаний — ключевые метрики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GAZP.ME: Market Cap 4,681,709,912,064 RUB, P/E 2.24, Div Yield 0.0%, Beta 1.05, YTD 9.25%</a:t>
            </a:r>
          </a:p>
          <a:p>
            <a:pPr>
              <a:defRPr sz="1400"/>
            </a:pPr>
            <a:r>
              <a:t>LKOH.ME: Market Cap 2,543,495,413,760 RUB, P/E 3.46, Div Yield 7.1%, Beta 0.95, YTD -1.65%</a:t>
            </a:r>
          </a:p>
          <a:p>
            <a:pPr>
              <a:defRPr sz="1400"/>
            </a:pPr>
            <a:r>
              <a:t>MGNT.ME: Market Cap 435,439,271,936 RUB, P/E 9.08, Div Yield 1.85%, Beta 0.7, YTD -1.78%</a:t>
            </a:r>
          </a:p>
          <a:p>
            <a:pPr>
              <a:defRPr sz="1400"/>
            </a:pPr>
            <a:r>
              <a:t>MTSS.ME: Market Cap 465,162,960,896 RUB, P/E 8.84, Div Yield 12.7%, Beta 0.8, YTD -3.59%</a:t>
            </a:r>
          </a:p>
          <a:p>
            <a:pPr>
              <a:defRPr sz="1400"/>
            </a:pPr>
            <a:r>
              <a:t>SBER.ME: Market Cap 2,877,540,270,080 RUB, P/E 2.64, Div Yield 10.5%, Beta 1.15, YTD -5.12%</a:t>
            </a:r>
          </a:p>
          <a:p>
            <a:pPr>
              <a:defRPr sz="1400"/>
            </a:pPr>
            <a:r>
              <a:t>TCSG.ME: Market Cap 401,200,939,008 RUB, P/E 6.39, Div Yield 0.7%, Beta 1.35, YTD -5.84%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Финансовое сравнение — выручка и прибыль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GAZP.ME: Revenue 9,770,671,013,888, Net Income 2,092,818,950,000, Free Cash Flow -930,716,647,424 RUB</a:t>
            </a:r>
          </a:p>
          <a:p>
            <a:pPr>
              <a:defRPr sz="1400"/>
            </a:pPr>
            <a:r>
              <a:t>LKOH.ME: Revenue 7,889,689,772,032, Net Income 734,264,389,760, Free Cash Flow 574,309,138,432 RUB</a:t>
            </a:r>
          </a:p>
          <a:p>
            <a:pPr>
              <a:defRPr sz="1400"/>
            </a:pPr>
            <a:r>
              <a:t>MGNT.ME: Revenue 3,509,225,521,152, Net Income 47,966,985,060, Free Cash Flow -139,289,952,256 RUB</a:t>
            </a:r>
          </a:p>
          <a:p>
            <a:pPr>
              <a:defRPr sz="1400"/>
            </a:pPr>
            <a:r>
              <a:t>MTSS.ME: Revenue 807,186,006,016, Net Income 52,629,964,251, Free Cash Flow 202,972,872,704 RUB</a:t>
            </a:r>
          </a:p>
          <a:p>
            <a:pPr>
              <a:defRPr sz="1400"/>
            </a:pPr>
            <a:r>
              <a:t>SBER.ME: Revenue 3,889,400,119,296, Net Income 1,084,476,960,000, Free Cash Flow 658,000,000,000 RUB</a:t>
            </a:r>
          </a:p>
          <a:p>
            <a:pPr>
              <a:defRPr sz="1400"/>
            </a:pPr>
            <a:r>
              <a:t>TCSG.ME: Revenue 613,723,996,160, Net Income 62,761,141,981, Free Cash Flow -587,945,016,320 RUB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Результаты скоринга — взвешенные оценки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GAZP.ME: Weighted Score 2.84 -&gt; Hold (V5.0/G1.0/I1.0/R2.6/M5.0)</a:t>
            </a:r>
          </a:p>
          <a:p>
            <a:pPr>
              <a:defRPr sz="1400"/>
            </a:pPr>
            <a:r>
              <a:t>LKOH.ME: Weighted Score 3.12 -&gt; Buy (V3.4/G1.8/I3.4/R3.4/M4.2)</a:t>
            </a:r>
          </a:p>
          <a:p>
            <a:pPr>
              <a:defRPr sz="1400"/>
            </a:pPr>
            <a:r>
              <a:t>MGNT.ME: Weighted Score 2.88 -&gt; Hold (V1.0/G3.4/I2.6/R5.0/M3.4)</a:t>
            </a:r>
          </a:p>
          <a:p>
            <a:pPr>
              <a:defRPr sz="1400"/>
            </a:pPr>
            <a:r>
              <a:t>MTSS.ME: Weighted Score 3.12 -&gt; Buy (V1.8/G2.6/I5.0/R4.2/M2.6)</a:t>
            </a:r>
          </a:p>
          <a:p>
            <a:pPr>
              <a:defRPr sz="1400"/>
            </a:pPr>
            <a:r>
              <a:t>SBER.ME: Weighted Score 3.48 -&gt; Buy (V4.2/G4.2/I4.2/R1.8/M1.8)</a:t>
            </a:r>
          </a:p>
          <a:p>
            <a:pPr>
              <a:defRPr sz="1400"/>
            </a:pPr>
            <a:r>
              <a:t>TCSG.ME: Weighted Score 2.56 -&gt; Hold (V2.6/G5.0/I1.8/R1.0/M1.0)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Инвестиционные рекомендации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Рейтинг Buy: LKOH.ME, MTSS.ME, SBER.ME</a:t>
            </a:r>
          </a:p>
          <a:p>
            <a:pPr>
              <a:defRPr sz="1400"/>
            </a:pPr>
            <a:r>
              <a:t>Рейтинг Hold: GAZP.ME, MGNT.ME, TCSG.ME</a:t>
            </a:r>
          </a:p>
          <a:p>
            <a:pPr>
              <a:defRPr sz="1400"/>
            </a:pPr>
            <a:r>
              <a:t>Рейтинг Sell: нет</a:t>
            </a:r>
          </a:p>
          <a:p>
            <a:pPr>
              <a:defRPr sz="1400"/>
            </a:pPr>
            <a:r>
              <a:t>Итоговые рекомендации buy / hold / sell по покрытию.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