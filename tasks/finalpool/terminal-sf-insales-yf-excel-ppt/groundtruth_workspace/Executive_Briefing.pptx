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Cross-Platform Business Intelligence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Executive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Business Health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Composite Score: 88.6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Enterprise Revenue Score: 95.3</a:t>
            </a:r>
          </a:p>
          <a:p>
            <a:pPr>
              <a:defRPr sz="1600"/>
            </a:pPr>
            <a:r>
              <a:t>E-Commerce Growth Score: 88.2</a:t>
            </a:r>
          </a:p>
          <a:p>
            <a:pPr>
              <a:defRPr sz="1600"/>
            </a:pPr>
            <a:r>
              <a:t>Market Position Score: 80.0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Enterprise Sales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Total Enterprise Revenue: $3,048,998.33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Частные клиенты: $839,609.20 (532 customers)</a:t>
            </a:r>
          </a:p>
          <a:p>
            <a:pPr>
              <a:defRPr sz="1600"/>
            </a:pPr>
            <a:r>
              <a:t>Корпоративный: $793,741.69 (513 customers)</a:t>
            </a:r>
          </a:p>
          <a:p>
            <a:pPr>
              <a:defRPr sz="1600"/>
            </a:pPr>
            <a:r>
              <a:t>Государственный: $712,686.66 (474 customers)</a:t>
            </a:r>
          </a:p>
          <a:p>
            <a:pPr>
              <a:defRPr sz="1600"/>
            </a:pPr>
            <a:r>
              <a:t>Малый и средний бизнес: $702,960.78 (481 customers)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E-Commerce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Total E-Commerce Revenue: $61,712.04</a:t>
            </a:r>
          </a:p>
          <a:p>
            <a:pPr>
              <a:defRPr sz="1600"/>
            </a:pPr>
            <a:r>
              <a:t>Average Order Value: $411.41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Top Categories:</a:t>
            </a:r>
          </a:p>
          <a:p>
            <a:pPr>
              <a:defRPr sz="1600"/>
            </a:pPr>
            <a:r>
              <a:t>ТВ и домашний кинотеатр: $20,713.32</a:t>
            </a:r>
          </a:p>
          <a:p>
            <a:pPr>
              <a:defRPr sz="1600"/>
            </a:pPr>
            <a:r>
              <a:t>Электроника: $17,524.84</a:t>
            </a:r>
          </a:p>
          <a:p>
            <a:pPr>
              <a:defRPr sz="1600"/>
            </a:pPr>
            <a:r>
              <a:t>Аудио: $12,398.00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Market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MOEX Russia Index (IMOEX.ME): 3,052.00</a:t>
            </a:r>
          </a:p>
          <a:p>
            <a:pPr>
              <a:defRPr sz="1600"/>
            </a:pPr>
            <a:r>
              <a:t>Ozon Holdings (OZON.ME): 4,180.00</a:t>
            </a:r>
          </a:p>
          <a:p>
            <a:pPr>
              <a:defRPr sz="1600"/>
            </a:pPr>
            <a:r>
              <a:t>VTB Bank (VTBR.ME): 108.50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Year-over-Year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Enterprise Revenue: $3,048,998 vs $2,900,000 (prev) +5.1%</a:t>
            </a:r>
          </a:p>
          <a:p>
            <a:pPr>
              <a:defRPr sz="1600"/>
            </a:pPr>
            <a:r>
              <a:t>E-Commerce Revenue: $61,712 vs $55,000 (prev) +12.2%</a:t>
            </a:r>
          </a:p>
          <a:p>
            <a:pPr>
              <a:defRPr sz="1600"/>
            </a:pPr>
            <a:r>
              <a:t>Market Index: 3,052 vs 2,850 (prev) +7.1%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Risk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Enterprise Revenue is below target ($3,048,998 vs $3,200,000 target, gap: 4.7%)</a:t>
            </a:r>
          </a:p>
          <a:p>
            <a:pPr>
              <a:defRPr sz="1600"/>
            </a:pPr>
            <a:r>
              <a:t>E-Commerce Revenue is below target ($61,712 vs $70,000 target, gap: 11.8%)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Strategic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1. Accelerate enterprise sales pipeline to close the $151,002 revenue gap</a:t>
            </a:r>
          </a:p>
          <a:p>
            <a:pPr>
              <a:defRPr sz="1600"/>
            </a:pPr>
            <a:r>
              <a:t>2. Expand e-commerce product catalog and marketing to reach $70,000 target</a:t>
            </a:r>
          </a:p>
          <a:p>
            <a:pPr>
              <a:defRPr sz="1600"/>
            </a:pPr>
            <a:r>
              <a:t>3. Leverage favorable market conditions (IMOEX above 3000) for growth initiatives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